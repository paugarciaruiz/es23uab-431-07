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7"/>
  </p:notesMasterIdLst>
  <p:sldIdLst>
    <p:sldId id="412" r:id="rId5"/>
    <p:sldId id="400" r:id="rId6"/>
    <p:sldId id="408" r:id="rId7"/>
    <p:sldId id="410" r:id="rId8"/>
    <p:sldId id="416" r:id="rId9"/>
    <p:sldId id="414" r:id="rId10"/>
    <p:sldId id="420" r:id="rId11"/>
    <p:sldId id="421" r:id="rId12"/>
    <p:sldId id="422" r:id="rId13"/>
    <p:sldId id="415" r:id="rId14"/>
    <p:sldId id="411" r:id="rId15"/>
    <p:sldId id="399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fif"/><Relationship Id="rId4" Type="http://schemas.openxmlformats.org/officeDocument/2006/relationships/image" Target="../media/image4.jf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431-07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02: Diagrama Casos d’Ús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44A2714-7224-8333-A43B-ECBC3C175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77664" y="2312505"/>
            <a:ext cx="1202542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1138189" y="3578972"/>
            <a:ext cx="188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David Caballero</a:t>
            </a:r>
            <a:endParaRPr lang="ca-E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6D0DF31-D861-FFEE-2974-6C02DD693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5" b="40796"/>
          <a:stretch/>
        </p:blipFill>
        <p:spPr bwMode="auto">
          <a:xfrm>
            <a:off x="4108009" y="2320270"/>
            <a:ext cx="1202542" cy="1193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701D67B-2047-7EEE-CB49-B2ED590A3D18}"/>
              </a:ext>
            </a:extLst>
          </p:cNvPr>
          <p:cNvSpPr txBox="1"/>
          <p:nvPr/>
        </p:nvSpPr>
        <p:spPr>
          <a:xfrm>
            <a:off x="4007501" y="3578972"/>
            <a:ext cx="140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b="1" dirty="0"/>
              <a:t>Pau García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58F73A0-EF49-A7B1-C627-75778E026E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3" t="10534" r="18702"/>
          <a:stretch/>
        </p:blipFill>
        <p:spPr bwMode="auto">
          <a:xfrm>
            <a:off x="1446165" y="4543537"/>
            <a:ext cx="1234041" cy="115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F9E5503-CA01-C76E-286A-F65FDF48A279}"/>
              </a:ext>
            </a:extLst>
          </p:cNvPr>
          <p:cNvSpPr txBox="1"/>
          <p:nvPr/>
        </p:nvSpPr>
        <p:spPr>
          <a:xfrm>
            <a:off x="1226093" y="5753681"/>
            <a:ext cx="170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Oscar Marcos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5B950BB-3356-08FA-D3B8-D5AB267A1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46185" y="4397109"/>
            <a:ext cx="1126190" cy="130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FC6393E-84E8-F829-72B0-A2837607CCD5}"/>
              </a:ext>
            </a:extLst>
          </p:cNvPr>
          <p:cNvSpPr txBox="1"/>
          <p:nvPr/>
        </p:nvSpPr>
        <p:spPr>
          <a:xfrm>
            <a:off x="3942439" y="5757115"/>
            <a:ext cx="1533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Guillem Solé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5D8E7C1-F3A1-9FFE-E007-5F434203772E}"/>
              </a:ext>
            </a:extLst>
          </p:cNvPr>
          <p:cNvSpPr txBox="1"/>
          <p:nvPr/>
        </p:nvSpPr>
        <p:spPr>
          <a:xfrm>
            <a:off x="6528945" y="3625138"/>
            <a:ext cx="430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En el </a:t>
            </a:r>
            <a:r>
              <a:rPr lang="ca-ES" dirty="0" err="1"/>
              <a:t>segón</a:t>
            </a:r>
            <a:r>
              <a:rPr lang="ca-ES" dirty="0"/>
              <a:t> </a:t>
            </a:r>
            <a:r>
              <a:rPr lang="ca-ES" dirty="0" err="1"/>
              <a:t>sprint</a:t>
            </a:r>
            <a:r>
              <a:rPr lang="ca-ES" dirty="0"/>
              <a:t> l’SCRUM </a:t>
            </a:r>
            <a:r>
              <a:rPr lang="ca-ES" dirty="0" err="1"/>
              <a:t>Master</a:t>
            </a:r>
            <a:r>
              <a:rPr lang="ca-ES" dirty="0"/>
              <a:t> ha sigut Pau García.</a:t>
            </a:r>
          </a:p>
        </p:txBody>
      </p:sp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9F3BC3-64C6-DCA9-A993-43956FF851B7}"/>
              </a:ext>
            </a:extLst>
          </p:cNvPr>
          <p:cNvSpPr txBox="1"/>
          <p:nvPr/>
        </p:nvSpPr>
        <p:spPr>
          <a:xfrm>
            <a:off x="541068" y="1961874"/>
            <a:ext cx="91600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Diagrama Cas d’Ús Usuari registrat i no registrat </a:t>
            </a:r>
            <a:r>
              <a:rPr lang="ca-ES" dirty="0">
                <a:solidFill>
                  <a:srgbClr val="FF0000"/>
                </a:solidFill>
              </a:rPr>
              <a:t>+ Canvis</a:t>
            </a:r>
            <a:r>
              <a:rPr lang="ca-ES" dirty="0"/>
              <a:t> (Encarregat: Pau)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Diagrama Cas d’Ús Comprador </a:t>
            </a:r>
            <a:r>
              <a:rPr lang="ca-ES" dirty="0">
                <a:solidFill>
                  <a:srgbClr val="FF0000"/>
                </a:solidFill>
              </a:rPr>
              <a:t>+ Canvis </a:t>
            </a:r>
            <a:r>
              <a:rPr lang="ca-ES" dirty="0"/>
              <a:t>(Encarregat: Oscar)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Diagrama Cas d’Ús Cuiner </a:t>
            </a:r>
            <a:r>
              <a:rPr lang="ca-ES" dirty="0">
                <a:solidFill>
                  <a:srgbClr val="FF0000"/>
                </a:solidFill>
              </a:rPr>
              <a:t>+ Canvis </a:t>
            </a:r>
            <a:r>
              <a:rPr lang="ca-ES" dirty="0"/>
              <a:t>(Encarregat: David)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Diagrama Cas d’Ús Repartidor </a:t>
            </a:r>
            <a:r>
              <a:rPr lang="ca-ES" dirty="0">
                <a:solidFill>
                  <a:srgbClr val="FF0000"/>
                </a:solidFill>
              </a:rPr>
              <a:t>+ Canvis </a:t>
            </a:r>
            <a:r>
              <a:rPr lang="ca-ES" dirty="0"/>
              <a:t>(Encarregat: Guillem)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Ajuntar Diagrames de Casos d’Ús en un de sol (Encarregat: Pau)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ca-ES" dirty="0"/>
              <a:t>Coordinació de l’equip, </a:t>
            </a:r>
            <a:r>
              <a:rPr lang="ca-ES" dirty="0" err="1"/>
              <a:t>Burn-down</a:t>
            </a:r>
            <a:r>
              <a:rPr lang="ca-ES" dirty="0"/>
              <a:t> Chart, </a:t>
            </a:r>
            <a:r>
              <a:rPr lang="ca-ES" dirty="0" err="1"/>
              <a:t>Trello</a:t>
            </a:r>
            <a:r>
              <a:rPr lang="ca-ES" dirty="0"/>
              <a:t> i presentació (Encarregat: Pau)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63AEE64-6A5F-43BD-B7F5-39A95A44E0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7" t="19018" r="27402" b="19389"/>
          <a:stretch/>
        </p:blipFill>
        <p:spPr>
          <a:xfrm>
            <a:off x="8778436" y="2562244"/>
            <a:ext cx="2819978" cy="213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A9A76E3-9C96-4A02-8B1B-ADAC248F75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42"/>
          <a:stretch/>
        </p:blipFill>
        <p:spPr>
          <a:xfrm>
            <a:off x="5217215" y="5020837"/>
            <a:ext cx="4694881" cy="104994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007683E-8268-4EBD-9160-A5C97382CE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6" b="2282"/>
          <a:stretch/>
        </p:blipFill>
        <p:spPr>
          <a:xfrm>
            <a:off x="6199632" y="2115303"/>
            <a:ext cx="4164574" cy="272642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Perfils i Usuaris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33A7ED-18E9-D42B-F297-39B59B5C7F84}"/>
              </a:ext>
            </a:extLst>
          </p:cNvPr>
          <p:cNvSpPr txBox="1"/>
          <p:nvPr/>
        </p:nvSpPr>
        <p:spPr>
          <a:xfrm>
            <a:off x="554438" y="2291006"/>
            <a:ext cx="5351412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ca-ES" dirty="0"/>
              <a:t>Hem identificat 8 perfils: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b="1" dirty="0"/>
              <a:t>Interns: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Usuari No registrat 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Usuari Registrat 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Comprador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Cuiner 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Repartidor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b="1" dirty="0"/>
              <a:t>Externs: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/>
              <a:t>Proveïdor d’identitat (</a:t>
            </a:r>
            <a:r>
              <a:rPr lang="ca-ES" dirty="0" err="1"/>
              <a:t>Gmail</a:t>
            </a:r>
            <a:r>
              <a:rPr lang="ca-ES" dirty="0"/>
              <a:t>/Outlook)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 err="1"/>
              <a:t>Google</a:t>
            </a:r>
            <a:r>
              <a:rPr lang="ca-ES" dirty="0"/>
              <a:t> </a:t>
            </a:r>
            <a:r>
              <a:rPr lang="ca-ES" dirty="0" err="1"/>
              <a:t>Maps</a:t>
            </a:r>
            <a:r>
              <a:rPr lang="ca-ES" dirty="0"/>
              <a:t> 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ca-ES" dirty="0" err="1"/>
              <a:t>PayPal</a:t>
            </a:r>
            <a:r>
              <a:rPr lang="ca-ES" dirty="0"/>
              <a:t> / Entitat Bancària </a:t>
            </a:r>
          </a:p>
          <a:p>
            <a:pPr algn="just"/>
            <a:endParaRPr lang="ca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7EEDEDF-CC3F-4F33-9648-DC3541402B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4305" r="61926"/>
          <a:stretch/>
        </p:blipFill>
        <p:spPr>
          <a:xfrm>
            <a:off x="10392960" y="5040917"/>
            <a:ext cx="1729132" cy="9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Casos d’Ús (Usuari no registrat)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3EA6D-1B07-4127-93F7-EBE17EEA2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5037" y="2330710"/>
            <a:ext cx="77819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32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Casos d’Ús (Usuari registrat)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3EA6D-1B07-4127-93F7-EBE17EEA2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7112" y="3078113"/>
            <a:ext cx="8457775" cy="2163292"/>
          </a:xfrm>
          <a:prstGeom prst="rect">
            <a:avLst/>
          </a:prstGeom>
        </p:spPr>
      </p:pic>
      <p:sp>
        <p:nvSpPr>
          <p:cNvPr id="18" name="Elipse 17">
            <a:extLst>
              <a:ext uri="{FF2B5EF4-FFF2-40B4-BE49-F238E27FC236}">
                <a16:creationId xmlns:a16="http://schemas.microsoft.com/office/drawing/2014/main" id="{C2E90F72-0B01-45CB-A128-FC427F19A121}"/>
              </a:ext>
            </a:extLst>
          </p:cNvPr>
          <p:cNvSpPr/>
          <p:nvPr/>
        </p:nvSpPr>
        <p:spPr>
          <a:xfrm>
            <a:off x="4562475" y="4295775"/>
            <a:ext cx="5867400" cy="1179576"/>
          </a:xfrm>
          <a:prstGeom prst="ellipse">
            <a:avLst/>
          </a:prstGeom>
          <a:noFill/>
          <a:ln w="22225">
            <a:solidFill>
              <a:srgbClr val="FF0000">
                <a:alpha val="6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663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Casos d’Ús (Comprador)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3EA6D-1B07-4127-93F7-EBE17EEA2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5568" y="2250792"/>
            <a:ext cx="10069203" cy="4089965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FE0F234A-561A-4922-BCA2-748FF8EE669A}"/>
              </a:ext>
            </a:extLst>
          </p:cNvPr>
          <p:cNvSpPr/>
          <p:nvPr/>
        </p:nvSpPr>
        <p:spPr>
          <a:xfrm>
            <a:off x="2057400" y="2647950"/>
            <a:ext cx="3800475" cy="647700"/>
          </a:xfrm>
          <a:prstGeom prst="ellipse">
            <a:avLst/>
          </a:prstGeom>
          <a:noFill/>
          <a:ln w="22225">
            <a:solidFill>
              <a:srgbClr val="FF0000">
                <a:alpha val="44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C0D039D-20B3-4B95-8080-3DC91D424150}"/>
              </a:ext>
            </a:extLst>
          </p:cNvPr>
          <p:cNvSpPr/>
          <p:nvPr/>
        </p:nvSpPr>
        <p:spPr>
          <a:xfrm>
            <a:off x="2171700" y="5819775"/>
            <a:ext cx="3800475" cy="647700"/>
          </a:xfrm>
          <a:prstGeom prst="ellipse">
            <a:avLst/>
          </a:prstGeom>
          <a:noFill/>
          <a:ln w="22225">
            <a:solidFill>
              <a:srgbClr val="FF0000">
                <a:alpha val="44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E6B702E-65EF-4172-92EA-11677B65FA57}"/>
              </a:ext>
            </a:extLst>
          </p:cNvPr>
          <p:cNvSpPr/>
          <p:nvPr/>
        </p:nvSpPr>
        <p:spPr>
          <a:xfrm>
            <a:off x="6529197" y="2435223"/>
            <a:ext cx="636270" cy="241302"/>
          </a:xfrm>
          <a:prstGeom prst="ellipse">
            <a:avLst/>
          </a:prstGeom>
          <a:noFill/>
          <a:ln w="22225">
            <a:solidFill>
              <a:srgbClr val="FF0000">
                <a:alpha val="44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2295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Casos d’Ús (Cuiner)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3EA6D-1B07-4127-93F7-EBE17EEA2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6806" y="2322808"/>
            <a:ext cx="7858387" cy="376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46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Casos d’Ús (Repartidor)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53EA6D-1B07-4127-93F7-EBE17EEA2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0435" y="2499591"/>
            <a:ext cx="7691129" cy="310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2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0137136-E6B5-4374-A178-290821345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424" y="-5593"/>
            <a:ext cx="10527048" cy="68635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28" y="0"/>
            <a:ext cx="3171039" cy="1442906"/>
          </a:xfrm>
        </p:spPr>
        <p:txBody>
          <a:bodyPr>
            <a:normAutofit/>
          </a:bodyPr>
          <a:lstStyle/>
          <a:p>
            <a:r>
              <a:rPr lang="ca-ES" sz="3600" dirty="0"/>
              <a:t>Cas d’Ús Final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040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Burn-down</a:t>
            </a:r>
            <a:r>
              <a:rPr lang="ca-ES" dirty="0"/>
              <a:t> </a:t>
            </a:r>
            <a:r>
              <a:rPr lang="ca-ES" dirty="0" err="1"/>
              <a:t>chart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3B4500-C043-497A-BFC3-D391A6629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8215" y="2056993"/>
            <a:ext cx="7187195" cy="464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431-07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02: Diagrama Casos d’Ús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18001</TotalTime>
  <Words>205</Words>
  <Application>Microsoft Office PowerPoint</Application>
  <PresentationFormat>Panorámica</PresentationFormat>
  <Paragraphs>50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Neue Haas Grotesk Text Pro</vt:lpstr>
      <vt:lpstr>Wingdings</vt:lpstr>
      <vt:lpstr>AccentBoxVTI</vt:lpstr>
      <vt:lpstr>Enginyeria del Software</vt:lpstr>
      <vt:lpstr>Composició de l’equip </vt:lpstr>
      <vt:lpstr>Tasques fetes al sprint</vt:lpstr>
      <vt:lpstr>Perfils i Usuaris </vt:lpstr>
      <vt:lpstr>Casos d’Ús (Usuari no registrat) </vt:lpstr>
      <vt:lpstr>Casos d’Ús (Usuari registrat) </vt:lpstr>
      <vt:lpstr>Casos d’Ús (Comprador) </vt:lpstr>
      <vt:lpstr>Casos d’Ús (Cuiner) </vt:lpstr>
      <vt:lpstr>Casos d’Ús (Repartidor) </vt:lpstr>
      <vt:lpstr>Cas d’Ús Final</vt:lpstr>
      <vt:lpstr>Burn-down chart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Pau García Ruiz</cp:lastModifiedBy>
  <cp:revision>63</cp:revision>
  <dcterms:created xsi:type="dcterms:W3CDTF">2023-02-10T08:32:17Z</dcterms:created>
  <dcterms:modified xsi:type="dcterms:W3CDTF">2026-05-10T10:05:04Z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